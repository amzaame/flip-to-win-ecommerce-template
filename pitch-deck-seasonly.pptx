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8875D"/>
                </a:solidFill>
                <a:latin typeface="Calibri"/>
              </a:rPr>
              <a:t>PROJET SEO × GEO · JUILLET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6000" b="1" i="0">
                <a:solidFill>
                  <a:srgbClr val="F7F3EC"/>
                </a:solidFill>
                <a:latin typeface="Georgia"/>
              </a:rPr>
              <a:t>Seasonly</a:t>
            </a:r>
          </a:p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E8875D"/>
                </a:solidFill>
                <a:latin typeface="Georgia"/>
              </a:rPr>
              <a:t>Exister dans les réponses des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9875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7F3EC"/>
                </a:solidFill>
                <a:latin typeface="Calibri"/>
              </a:rPr>
              <a:t>Comment une marque pionnière du facialisme, absente des SERP et des réponses de ChatGPT, Perplexity et Claude, peut devenir la source que les IA citent — en 3 actions, 18 pages et 1 robot éditorial.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DB29A"/>
                </a:solidFill>
                <a:latin typeface="Calibri"/>
              </a:rPr>
              <a:t>Analyse SERP/GEO   ·   18 pages vibecodées   ·   Workflow Make   ·   KPIs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875D"/>
                </a:solidFill>
                <a:latin typeface="Calibri"/>
              </a:rPr>
              <a:t>1 · LA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E3A2B"/>
                </a:solidFill>
                <a:latin typeface="Georgia"/>
              </a:rPr>
              <a:t>Seasonly : forte en studio, invisible en ligne (hors marque)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260604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1E3A2B"/>
                </a:solidFill>
                <a:latin typeface="Georgia"/>
              </a:rPr>
              <a:t>2018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F2D24"/>
                </a:solidFill>
                <a:latin typeface="Calibri"/>
              </a:rPr>
              <a:t>Fondée par Fany Péchiodat — skincare naturelle (95 %), vegan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2103120"/>
            <a:ext cx="260604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1E3A2B"/>
                </a:solidFill>
                <a:latin typeface="Georgia"/>
              </a:rPr>
              <a:t>2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F2D24"/>
                </a:solidFill>
                <a:latin typeface="Calibri"/>
              </a:rPr>
              <a:t>moteurs de business : e-commerce + Skin Studios (facialisme)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103120"/>
            <a:ext cx="260604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1E3A2B"/>
                </a:solidFill>
                <a:latin typeface="Georgia"/>
              </a:rPr>
              <a:t>100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F2D24"/>
                </a:solidFill>
                <a:latin typeface="Calibri"/>
              </a:rPr>
              <a:t>studios visés en Europe d'ici 2027 (Paris, Aix, Bordeaux, Nice…)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2103120"/>
            <a:ext cx="260604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1E3A2B"/>
                </a:solidFill>
                <a:latin typeface="Georgia"/>
              </a:rPr>
              <a:t>≈ 0 %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F2D24"/>
                </a:solidFill>
                <a:latin typeface="Calibri"/>
              </a:rPr>
              <a:t>de visibilité sur les requêtes génériques testées (Google + IA)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06240"/>
            <a:ext cx="1051560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8875D"/>
                </a:solidFill>
                <a:latin typeface="Calibri"/>
              </a:rPr>
              <a:t>Le problème</a:t>
            </a:r>
          </a:p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1F2D24"/>
                </a:solidFill>
                <a:latin typeface="Calibri"/>
              </a:rPr>
              <a:t>Les clients découvrent la catégorie (« kobido », « gua sha », « notox ») AVANT de découvrir la marque — et de plus en plus via un chatbot. Sur ces requêtes, Seasonly n'existe pas.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DB29A"/>
                </a:solidFill>
                <a:latin typeface="Calibri"/>
              </a:rPr>
              <a:t>seasonly. × GEO — pitch deck   ·   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875D"/>
                </a:solidFill>
                <a:latin typeface="Calibri"/>
              </a:rPr>
              <a:t>2 · DIAGNOSTIC GEO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E3A2B"/>
                </a:solidFill>
                <a:latin typeface="Georgia"/>
              </a:rPr>
              <a:t>Qui est cité à la place de Seasonly 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148840"/>
          <a:ext cx="1051559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1237129"/>
                <a:gridCol w="577327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7F3EC"/>
                          </a:solidFill>
                          <a:latin typeface="Calibri"/>
                        </a:rPr>
                        <a:t>Requête testée</a:t>
                      </a:r>
                    </a:p>
                  </a:txBody>
                  <a:tcPr>
                    <a:solidFill>
                      <a:srgbClr val="1E3A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7F3EC"/>
                          </a:solidFill>
                          <a:latin typeface="Calibri"/>
                        </a:rPr>
                        <a:t>Seasonly ?</a:t>
                      </a:r>
                    </a:p>
                  </a:txBody>
                  <a:tcPr>
                    <a:solidFill>
                      <a:srgbClr val="1E3A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7F3EC"/>
                          </a:solidFill>
                          <a:latin typeface="Calibri"/>
                        </a:rPr>
                        <a:t>Cités à la place</a:t>
                      </a:r>
                    </a:p>
                  </a:txBody>
                  <a:tcPr>
                    <a:solidFill>
                      <a:srgbClr val="1E3A2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meilleur soin visage institut Paris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0432F"/>
                          </a:solidFill>
                          <a:latin typeface="Calibri"/>
                        </a:rPr>
                        <a:t>ABSENTE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Planity, Treatwell, Funbooker + instituts optimisés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massage kobido Paris</a:t>
                      </a:r>
                    </a:p>
                  </a:txBody>
                  <a:tcPr>
                    <a:solidFill>
                      <a:srgbClr val="EDE5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3A2B"/>
                          </a:solidFill>
                          <a:latin typeface="Calibri"/>
                        </a:rPr>
                        <a:t>Partielle</a:t>
                      </a:r>
                    </a:p>
                  </a:txBody>
                  <a:tcPr>
                    <a:solidFill>
                      <a:srgbClr val="EDE5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Resalib, blogs concurrents, indépendantes (130-180 €)</a:t>
                      </a:r>
                    </a:p>
                  </a:txBody>
                  <a:tcPr>
                    <a:solidFill>
                      <a:srgbClr val="EDE5D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meilleure marque cosmétique naturelle FR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0432F"/>
                          </a:solidFill>
                          <a:latin typeface="Calibri"/>
                        </a:rPr>
                        <a:t>ABSENTE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Blogs affiliés « Top 15 », Melvita, marques auto-publiées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anti-âge sans injection / botox naturel</a:t>
                      </a:r>
                    </a:p>
                  </a:txBody>
                  <a:tcPr>
                    <a:solidFill>
                      <a:srgbClr val="EDE5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0432F"/>
                          </a:solidFill>
                          <a:latin typeface="Calibri"/>
                        </a:rPr>
                        <a:t>ABSENTE</a:t>
                      </a:r>
                    </a:p>
                  </a:txBody>
                  <a:tcPr>
                    <a:solidFill>
                      <a:srgbClr val="EDE5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Aroma-Zone, cliniques — alors que c'est SON territoire</a:t>
                      </a:r>
                    </a:p>
                  </a:txBody>
                  <a:tcPr>
                    <a:solidFill>
                      <a:srgbClr val="EDE5D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gua sha bienfaits + utilisation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0432F"/>
                          </a:solidFill>
                          <a:latin typeface="Calibri"/>
                        </a:rPr>
                        <a:t>ABSENTE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NIVEA, Mademoiselle bio… alors que Seasonly en VEND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2D24"/>
                </a:solidFill>
                <a:latin typeface="Calibri"/>
              </a:rPr>
              <a:t>1 requête sur 5 mentionne la marque — et uniquement via des articles tiers, jamais via son propre 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DB29A"/>
                </a:solidFill>
                <a:latin typeface="Calibri"/>
              </a:rPr>
              <a:t>seasonly. × GEO — pitch deck   ·   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875D"/>
                </a:solidFill>
                <a:latin typeface="Calibri"/>
              </a:rPr>
              <a:t>2 · DIAGNOSTIC GEO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E3A2B"/>
                </a:solidFill>
                <a:latin typeface="Georgia"/>
              </a:rPr>
              <a:t>Pourquoi EUX sont cités : les 7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260604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E3A2B"/>
                </a:solidFill>
                <a:latin typeface="Georgia"/>
              </a:rPr>
              <a:t>📋 Listicles chiffrés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F2D24"/>
                </a:solidFill>
                <a:latin typeface="Calibri"/>
              </a:rPr>
              <a:t>« Top 20 », « 5 meilleures adresses » : réponse pré-mâchée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2103120"/>
            <a:ext cx="260604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E3A2B"/>
                </a:solidFill>
                <a:latin typeface="Georgia"/>
              </a:rPr>
              <a:t>🔢 Données précises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F2D24"/>
                </a:solidFill>
                <a:latin typeface="Calibri"/>
              </a:rPr>
              <a:t>Prix, notes (4,9/5), volumes (2 000 avis) = faits citables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103120"/>
            <a:ext cx="260604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E3A2B"/>
                </a:solidFill>
                <a:latin typeface="Georgia"/>
              </a:rPr>
              <a:t>🧱 Structure extractible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F2D24"/>
                </a:solidFill>
                <a:latin typeface="Calibri"/>
              </a:rPr>
              <a:t>H2/H3, étapes, tableaux, FAQ : chunks parfaits pour le RAG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2103120"/>
            <a:ext cx="260604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E3A2B"/>
                </a:solidFill>
                <a:latin typeface="Georgia"/>
              </a:rPr>
              <a:t>🎓 E-E-A-T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F2D24"/>
                </a:solidFill>
                <a:latin typeface="Calibri"/>
              </a:rPr>
              <a:t>« avis dermatologue », auteur identifié, « on a testé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03320"/>
            <a:ext cx="260604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E3A2B"/>
                </a:solidFill>
                <a:latin typeface="Georgia"/>
              </a:rPr>
              <a:t>📅 Fraîcheur affichée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F2D24"/>
                </a:solidFill>
                <a:latin typeface="Calibri"/>
              </a:rPr>
              <a:t>Millésime 2026 dans le titre, date de mise à jour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3703320"/>
            <a:ext cx="260604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E3A2B"/>
                </a:solidFill>
                <a:latin typeface="Georgia"/>
              </a:rPr>
              <a:t>🏛️ Autorité d'agrégateur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F2D24"/>
                </a:solidFill>
                <a:latin typeface="Calibri"/>
              </a:rPr>
              <a:t>Planity/Treatwell : avis structurés + schema LocalBusiness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703320"/>
            <a:ext cx="260604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E3A2B"/>
                </a:solidFill>
                <a:latin typeface="Georgia"/>
              </a:rPr>
              <a:t>🎯 Réponse en 1er ¶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F2D24"/>
                </a:solidFill>
                <a:latin typeface="Calibri"/>
              </a:rPr>
              <a:t>La définition en tête de page devient LE snippet cité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3703320"/>
            <a:ext cx="2286000" cy="1463040"/>
          </a:xfrm>
          <a:prstGeom prst="roundRect">
            <a:avLst/>
          </a:prstGeom>
          <a:solidFill>
            <a:srgbClr val="1E3A2B"/>
          </a:solidFill>
          <a:ln w="9525">
            <a:solidFill>
              <a:srgbClr val="E5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E8875D"/>
                </a:solidFill>
                <a:latin typeface="Georgia"/>
              </a:rPr>
              <a:t>Conclusion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F7F3EC"/>
                </a:solidFill>
                <a:latin typeface="Calibri"/>
              </a:rPr>
              <a:t>Les IA citent le plus facile à extraire — et accessible aux crawlers.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DB29A"/>
                </a:solidFill>
                <a:latin typeface="Calibri"/>
              </a:rPr>
              <a:t>seasonly. × GEO — pitch deck   ·   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875D"/>
                </a:solidFill>
                <a:latin typeface="Calibri"/>
              </a:rPr>
              <a:t>3 · STRATÉGIE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E3A2B"/>
                </a:solidFill>
                <a:latin typeface="Georgia"/>
              </a:rPr>
              <a:t>3 actions pour entrer dans les réponses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57400"/>
            <a:ext cx="105156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E3A2B"/>
                </a:solidFill>
                <a:latin typeface="Georgia"/>
              </a:rPr>
              <a:t>1 · OWNED — Hub de contenu citable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2D24"/>
                </a:solidFill>
                <a:latin typeface="Calibri"/>
              </a:rPr>
              <a:t>18 pages guides appliquant les 7 patterns : réponse directe, chiffres, FAQ, JSON-LD (FAQPage, HowTo, LocalBusiness), date et auteur. → démo Step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108960"/>
            <a:ext cx="105156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E3A2B"/>
                </a:solidFill>
                <a:latin typeface="Georgia"/>
              </a:rPr>
              <a:t>2 · EARNED — Autorité tierce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2D24"/>
                </a:solidFill>
                <a:latin typeface="Calibri"/>
              </a:rPr>
              <a:t>Fiches Planity/Treatwell/Google Business optimisées (viser 4,8+/5), présence dans 10 listicles « meilleur kobido/facialiste », RP presse beauté.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60520"/>
            <a:ext cx="105156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E3A2B"/>
                </a:solidFill>
                <a:latin typeface="Georgia"/>
              </a:rPr>
              <a:t>3 · TECH — Infrastructure GEO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2D24"/>
                </a:solidFill>
                <a:latin typeface="Calibri"/>
              </a:rPr>
              <a:t>robots.txt ouvert aux bots IA + llms.txt + schema.org partout + flux de fraîcheur automatisé. → démo Step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49240"/>
            <a:ext cx="10515600" cy="1051560"/>
          </a:xfrm>
          <a:prstGeom prst="roundRect">
            <a:avLst/>
          </a:prstGeom>
          <a:solidFill>
            <a:srgbClr val="EDE5D6"/>
          </a:solidFill>
          <a:ln w="9525">
            <a:solidFill>
              <a:srgbClr val="E5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8875D"/>
                </a:solidFill>
                <a:latin typeface="Calibri"/>
              </a:rPr>
              <a:t>L'enjeu robots.txt</a:t>
            </a:r>
          </a:p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1F2D24"/>
                </a:solidFill>
                <a:latin typeface="Calibri"/>
              </a:rPr>
              <a:t>Bloquer GPTBot, ClaudeBot, PerplexityBot, Google-Extended protège les médias — mais condamne une PME à l'invisibilité. Pour Seasonly : être crawlé = être cité = exister. On ouvre tout, sauf /cart, /checkout, /account.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DB29A"/>
                </a:solidFill>
                <a:latin typeface="Calibri"/>
              </a:rPr>
              <a:t>seasonly. × GEO — pitch deck   ·   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875D"/>
                </a:solidFill>
                <a:latin typeface="Calibri"/>
              </a:rPr>
              <a:t>4 · VIBECODING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E3A2B"/>
                </a:solidFill>
                <a:latin typeface="Georgia"/>
              </a:rPr>
              <a:t>18 pages construites, chacune vise une requête perdue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103120"/>
          <a:ext cx="1051559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59"/>
                <a:gridCol w="2303417"/>
                <a:gridCol w="540802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7F3EC"/>
                          </a:solidFill>
                          <a:latin typeface="Calibri"/>
                        </a:rPr>
                        <a:t>Page</a:t>
                      </a:r>
                    </a:p>
                  </a:txBody>
                  <a:tcPr>
                    <a:solidFill>
                      <a:srgbClr val="1E3A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7F3EC"/>
                          </a:solidFill>
                          <a:latin typeface="Calibri"/>
                        </a:rPr>
                        <a:t>Requête cible</a:t>
                      </a:r>
                    </a:p>
                  </a:txBody>
                  <a:tcPr>
                    <a:solidFill>
                      <a:srgbClr val="1E3A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7F3EC"/>
                          </a:solidFill>
                          <a:latin typeface="Calibri"/>
                        </a:rPr>
                        <a:t>Armes GEO embarquées</a:t>
                      </a:r>
                    </a:p>
                  </a:txBody>
                  <a:tcPr>
                    <a:solidFill>
                      <a:srgbClr val="1E3A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24"/>
                          </a:solidFill>
                          <a:latin typeface="Calibri"/>
                        </a:rPr>
                        <a:t>Le facialisme, c'est quoi 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24"/>
                          </a:solidFill>
                          <a:latin typeface="Calibri"/>
                        </a:rPr>
                        <a:t>définition de la catégorie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24"/>
                          </a:solidFill>
                          <a:latin typeface="Calibri"/>
                        </a:rPr>
                        <a:t>DefinedTerm + FAQ : LA page de référence de l'entité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24"/>
                          </a:solidFill>
                          <a:latin typeface="Calibri"/>
                        </a:rPr>
                        <a:t>Massage kobido à Paris</a:t>
                      </a:r>
                    </a:p>
                  </a:txBody>
                  <a:tcPr>
                    <a:solidFill>
                      <a:srgbClr val="EDE5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24"/>
                          </a:solidFill>
                          <a:latin typeface="Calibri"/>
                        </a:rPr>
                        <a:t>kobido paris</a:t>
                      </a:r>
                    </a:p>
                  </a:txBody>
                  <a:tcPr>
                    <a:solidFill>
                      <a:srgbClr val="EDE5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24"/>
                          </a:solidFill>
                          <a:latin typeface="Calibri"/>
                        </a:rPr>
                        <a:t>LocalBusiness, comparatif honnête avec prix concurrents</a:t>
                      </a:r>
                    </a:p>
                  </a:txBody>
                  <a:tcPr>
                    <a:solidFill>
                      <a:srgbClr val="EDE5D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24"/>
                          </a:solidFill>
                          <a:latin typeface="Calibri"/>
                        </a:rPr>
                        <a:t>Gua sha : guide complet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24"/>
                          </a:solidFill>
                          <a:latin typeface="Calibri"/>
                        </a:rPr>
                        <a:t>gua sha utilisation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24"/>
                          </a:solidFill>
                          <a:latin typeface="Calibri"/>
                        </a:rPr>
                        <a:t>HowTo 4 étapes, tableau d'erreurs, chiffres (15°, 5 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24"/>
                          </a:solidFill>
                          <a:latin typeface="Calibri"/>
                        </a:rPr>
                        <a:t>Anti-âge sans injection</a:t>
                      </a:r>
                    </a:p>
                  </a:txBody>
                  <a:tcPr>
                    <a:solidFill>
                      <a:srgbClr val="EDE5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24"/>
                          </a:solidFill>
                          <a:latin typeface="Calibri"/>
                        </a:rPr>
                        <a:t>botox naturel</a:t>
                      </a:r>
                    </a:p>
                  </a:txBody>
                  <a:tcPr>
                    <a:solidFill>
                      <a:srgbClr val="EDE5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24"/>
                          </a:solidFill>
                          <a:latin typeface="Calibri"/>
                        </a:rPr>
                        <a:t>Honnêteté E-E-A-T (« rien ne remplace le botox, mais… »)</a:t>
                      </a:r>
                    </a:p>
                  </a:txBody>
                  <a:tcPr>
                    <a:solidFill>
                      <a:srgbClr val="EDE5D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24"/>
                          </a:solidFill>
                          <a:latin typeface="Calibri"/>
                        </a:rPr>
                        <a:t>Routine visage par saison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24"/>
                          </a:solidFill>
                          <a:latin typeface="Calibri"/>
                        </a:rPr>
                        <a:t>routine skincare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24"/>
                          </a:solidFill>
                          <a:latin typeface="Calibri"/>
                        </a:rPr>
                        <a:t>ADN de marque + mise à jour trimestrielle = fraîcheur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24"/>
                          </a:solidFill>
                          <a:latin typeface="Calibri"/>
                        </a:rPr>
                        <a:t>Meilleur soin visage Paris</a:t>
                      </a:r>
                    </a:p>
                  </a:txBody>
                  <a:tcPr>
                    <a:solidFill>
                      <a:srgbClr val="EDE5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24"/>
                          </a:solidFill>
                          <a:latin typeface="Calibri"/>
                        </a:rPr>
                        <a:t>meilleur soin paris</a:t>
                      </a:r>
                    </a:p>
                  </a:txBody>
                  <a:tcPr>
                    <a:solidFill>
                      <a:srgbClr val="EDE5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24"/>
                          </a:solidFill>
                          <a:latin typeface="Calibri"/>
                        </a:rPr>
                        <a:t>ItemList, comparatif 5 formats, prix 30-180 €</a:t>
                      </a:r>
                    </a:p>
                  </a:txBody>
                  <a:tcPr>
                    <a:solidFill>
                      <a:srgbClr val="EDE5D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24"/>
                          </a:solidFill>
                          <a:latin typeface="Calibri"/>
                        </a:rPr>
                        <a:t>+ 12 articles magazine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24"/>
                          </a:solidFill>
                          <a:latin typeface="Calibri"/>
                        </a:rPr>
                        <a:t>backlog Make publié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24"/>
                          </a:solidFill>
                          <a:latin typeface="Calibri"/>
                        </a:rPr>
                        <a:t>Même gabarit GEO : answer box, stats, FAQ, JSON-LD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2D24"/>
                </a:solidFill>
                <a:latin typeface="Calibri"/>
              </a:rPr>
              <a:t>+ hub index.html + llms.txt — réponse directe en 1er paragraphe, stats, FAQ, JSON-LD et date sur chaque page.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DB29A"/>
                </a:solidFill>
                <a:latin typeface="Calibri"/>
              </a:rPr>
              <a:t>seasonly. × GEO — pitch deck   ·   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875D"/>
                </a:solidFill>
                <a:latin typeface="Calibri"/>
              </a:rPr>
              <a:t>5 · AUTOMATISATION MAKE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E3A2B"/>
                </a:solidFill>
                <a:latin typeface="Georgia"/>
              </a:rPr>
              <a:t>Le robot éditorial : 1 article toutes les 30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3A2B"/>
                </a:solidFill>
                <a:latin typeface="Calibri"/>
              </a:rPr>
              <a:t>Schedule 30 min → Sheets (sujet « À générer ») → Claude (article JSON) → Google Doc → Sheets (maj ligne) → Gmail + Telegram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697480"/>
          <a:ext cx="1051559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1121"/>
                <a:gridCol w="2253342"/>
                <a:gridCol w="1690007"/>
                <a:gridCol w="1314450"/>
                <a:gridCol w="1596117"/>
                <a:gridCol w="12205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7F3EC"/>
                          </a:solidFill>
                          <a:latin typeface="Calibri"/>
                        </a:rPr>
                        <a:t>Titre</a:t>
                      </a:r>
                    </a:p>
                  </a:txBody>
                  <a:tcPr>
                    <a:solidFill>
                      <a:srgbClr val="1E3A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7F3EC"/>
                          </a:solidFill>
                          <a:latin typeface="Calibri"/>
                        </a:rPr>
                        <a:t>Résumé</a:t>
                      </a:r>
                    </a:p>
                  </a:txBody>
                  <a:tcPr>
                    <a:solidFill>
                      <a:srgbClr val="1E3A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7F3EC"/>
                          </a:solidFill>
                          <a:latin typeface="Calibri"/>
                        </a:rPr>
                        <a:t>Mots clés</a:t>
                      </a:r>
                    </a:p>
                  </a:txBody>
                  <a:tcPr>
                    <a:solidFill>
                      <a:srgbClr val="1E3A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7F3EC"/>
                          </a:solidFill>
                          <a:latin typeface="Calibri"/>
                        </a:rPr>
                        <a:t>Objectif</a:t>
                      </a:r>
                    </a:p>
                  </a:txBody>
                  <a:tcPr>
                    <a:solidFill>
                      <a:srgbClr val="1E3A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7F3EC"/>
                          </a:solidFill>
                          <a:latin typeface="Calibri"/>
                        </a:rPr>
                        <a:t>Date de création</a:t>
                      </a:r>
                    </a:p>
                  </a:txBody>
                  <a:tcPr>
                    <a:solidFill>
                      <a:srgbClr val="1E3A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7F3EC"/>
                          </a:solidFill>
                          <a:latin typeface="Calibri"/>
                        </a:rPr>
                        <a:t>Statut</a:t>
                      </a:r>
                    </a:p>
                  </a:txBody>
                  <a:tcPr>
                    <a:solidFill>
                      <a:srgbClr val="1E3A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D24"/>
                          </a:solidFill>
                          <a:latin typeface="Calibri"/>
                        </a:rPr>
                        <a:t>Bakuchiol vs rétinol : le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D24"/>
                          </a:solidFill>
                          <a:latin typeface="Calibri"/>
                        </a:rPr>
                        <a:t>Généré par l'IA (3 phrases)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D24"/>
                          </a:solidFill>
                          <a:latin typeface="Calibri"/>
                        </a:rPr>
                        <a:t>bakuchiol, rétinol…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D24"/>
                          </a:solidFill>
                          <a:latin typeface="Calibri"/>
                        </a:rPr>
                        <a:t>GEO citation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D24"/>
                          </a:solidFill>
                          <a:latin typeface="Calibri"/>
                        </a:rPr>
                        <a:t>06/07/2026 14:30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D24"/>
                          </a:solidFill>
                          <a:latin typeface="Calibri"/>
                        </a:rPr>
                        <a:t>Généré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D24"/>
                          </a:solidFill>
                          <a:latin typeface="Calibri"/>
                        </a:rPr>
                        <a:t>Kobido à Bordeaux : le guide</a:t>
                      </a:r>
                    </a:p>
                  </a:txBody>
                  <a:tcPr>
                    <a:solidFill>
                      <a:srgbClr val="EDE5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D2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DE5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D2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DE5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D24"/>
                          </a:solidFill>
                          <a:latin typeface="Calibri"/>
                        </a:rPr>
                        <a:t>SEO local</a:t>
                      </a:r>
                    </a:p>
                  </a:txBody>
                  <a:tcPr>
                    <a:solidFill>
                      <a:srgbClr val="EDE5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D2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DE5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D24"/>
                          </a:solidFill>
                          <a:latin typeface="Calibri"/>
                        </a:rPr>
                        <a:t>À générer</a:t>
                      </a:r>
                    </a:p>
                  </a:txBody>
                  <a:tcPr>
                    <a:solidFill>
                      <a:srgbClr val="EDE5D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4434840"/>
            <a:ext cx="26060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1E3A2B"/>
                </a:solidFill>
                <a:latin typeface="Georgia"/>
              </a:rPr>
              <a:t>48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1F2D24"/>
                </a:solidFill>
                <a:latin typeface="Calibri"/>
              </a:rPr>
              <a:t>articles/jour possibles en démo — 1/jour recommandé en prod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4434840"/>
            <a:ext cx="26060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1E3A2B"/>
                </a:solidFill>
                <a:latin typeface="Georgia"/>
              </a:rPr>
              <a:t>100 %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1F2D24"/>
                </a:solidFill>
                <a:latin typeface="Calibri"/>
              </a:rPr>
              <a:t>human-in-the-loop : rien ne se publie sans relecture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434840"/>
            <a:ext cx="26060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1E3A2B"/>
                </a:solidFill>
                <a:latin typeface="Georgia"/>
              </a:rPr>
              <a:t>7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1F2D24"/>
                </a:solidFill>
                <a:latin typeface="Calibri"/>
              </a:rPr>
              <a:t>patterns GEO encodés dans le system prompt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4434840"/>
            <a:ext cx="26060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1E3A2B"/>
                </a:solidFill>
                <a:latin typeface="Georgia"/>
              </a:rPr>
              <a:t>~0,05 €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1F2D24"/>
                </a:solidFill>
                <a:latin typeface="Calibri"/>
              </a:rPr>
              <a:t>coût IA par article (claude-sonnet-5)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DB29A"/>
                </a:solidFill>
                <a:latin typeface="Calibri"/>
              </a:rPr>
              <a:t>seasonly. × GEO — pitch deck   ·   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875D"/>
                </a:solidFill>
                <a:latin typeface="Calibri"/>
              </a:rPr>
              <a:t>6 · RÉSULTATS ATTENDUS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E3A2B"/>
                </a:solidFill>
                <a:latin typeface="Georgia"/>
              </a:rPr>
              <a:t>KPIs : comment on saura que ça marche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194560"/>
          <a:ext cx="10515599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1469"/>
                <a:gridCol w="2103120"/>
                <a:gridCol w="2103120"/>
                <a:gridCol w="2867890"/>
              </a:tblGrid>
              <a:tr h="54863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7F3EC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>
                    <a:solidFill>
                      <a:srgbClr val="1E3A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7F3EC"/>
                          </a:solidFill>
                          <a:latin typeface="Calibri"/>
                        </a:rPr>
                        <a:t>Baseline (07/2026)</a:t>
                      </a:r>
                    </a:p>
                  </a:txBody>
                  <a:tcPr>
                    <a:solidFill>
                      <a:srgbClr val="1E3A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7F3EC"/>
                          </a:solidFill>
                          <a:latin typeface="Calibri"/>
                        </a:rPr>
                        <a:t>Objectif 6 mois</a:t>
                      </a:r>
                    </a:p>
                  </a:txBody>
                  <a:tcPr>
                    <a:solidFill>
                      <a:srgbClr val="1E3A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7F3EC"/>
                          </a:solidFill>
                          <a:latin typeface="Calibri"/>
                        </a:rPr>
                        <a:t>Mesure</a:t>
                      </a:r>
                    </a:p>
                  </a:txBody>
                  <a:tcPr>
                    <a:solidFill>
                      <a:srgbClr val="1E3A2B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Part de voix IA (5 requêtes × 3 IA)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~10 %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60 %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Grille de test mensuelle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Citations tierces (listicles, presse)</a:t>
                      </a:r>
                    </a:p>
                  </a:txBody>
                  <a:tcPr>
                    <a:solidFill>
                      <a:srgbClr val="EDE5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DE5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EDE5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Veille mentions</a:t>
                      </a:r>
                    </a:p>
                  </a:txBody>
                  <a:tcPr>
                    <a:solidFill>
                      <a:srgbClr val="EDE5D6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Trafic référent 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≈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500 sessions/mois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GA4 (chatgpt.com, perplexity.ai)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Positions Google R1-R5</a:t>
                      </a:r>
                    </a:p>
                  </a:txBody>
                  <a:tcPr>
                    <a:solidFill>
                      <a:srgbClr val="EDE5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Non classé</a:t>
                      </a:r>
                    </a:p>
                  </a:txBody>
                  <a:tcPr>
                    <a:solidFill>
                      <a:srgbClr val="EDE5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Top 10 sur 3/5</a:t>
                      </a:r>
                    </a:p>
                  </a:txBody>
                  <a:tcPr>
                    <a:solidFill>
                      <a:srgbClr val="EDE5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Search Console</a:t>
                      </a:r>
                    </a:p>
                  </a:txBody>
                  <a:tcPr>
                    <a:solidFill>
                      <a:srgbClr val="EDE5D6"/>
                    </a:solidFill>
                  </a:tcPr>
                </a:tc>
              </a:tr>
              <a:tr h="54864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Réservations studio via organique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à poser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+20 %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24"/>
                          </a:solidFill>
                          <a:latin typeface="Calibri"/>
                        </a:rPr>
                        <a:t>UTM + module résa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6473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DB29A"/>
                </a:solidFill>
                <a:latin typeface="Calibri"/>
              </a:rPr>
              <a:t>seasonly. × GEO — pitch deck   ·   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875D"/>
                </a:solidFill>
                <a:latin typeface="Calibri"/>
              </a:rPr>
              <a:t>7 · DÉMO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E3A2B"/>
                </a:solidFill>
                <a:latin typeface="Georgia"/>
              </a:rPr>
              <a:t>Ce qu'on vous montre maintenant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57400"/>
            <a:ext cx="1051560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E3A2B"/>
                </a:solidFill>
                <a:latin typeface="Georgia"/>
              </a:rPr>
              <a:t>1 · Le test IA en direct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2D24"/>
                </a:solidFill>
                <a:latin typeface="Calibri"/>
              </a:rPr>
              <a:t>« Où faire un massage kobido à Paris ? » dans ChatGPT / Perplexity / Claude : qui est cité, quelles sources.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971800"/>
            <a:ext cx="1051560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E3A2B"/>
                </a:solidFill>
                <a:latin typeface="Georgia"/>
              </a:rPr>
              <a:t>2 · Les 18 pages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2D24"/>
                </a:solidFill>
                <a:latin typeface="Calibri"/>
              </a:rPr>
              <a:t>pages/index.html : structure, FAQ, JSON-LD visibles dans le code source.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886200"/>
            <a:ext cx="1051560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E3A2B"/>
                </a:solidFill>
                <a:latin typeface="Georgia"/>
              </a:rPr>
              <a:t>3 · Le scénario Make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2D24"/>
                </a:solidFill>
                <a:latin typeface="Calibri"/>
              </a:rPr>
              <a:t>Run once en direct : la ligne du Sheet passe « À générer » → « Généré », l'e-mail et le Telegram arrivent.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29200"/>
            <a:ext cx="10515600" cy="1143000"/>
          </a:xfrm>
          <a:prstGeom prst="roundRect">
            <a:avLst/>
          </a:prstGeom>
          <a:solidFill>
            <a:srgbClr val="1E3A2B"/>
          </a:solidFill>
          <a:ln w="9525">
            <a:solidFill>
              <a:srgbClr val="E5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E8875D"/>
                </a:solidFill>
                <a:latin typeface="Calibri"/>
              </a:rPr>
              <a:t>Conclusion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7F3EC"/>
                </a:solidFill>
                <a:latin typeface="Calibri"/>
              </a:rPr>
              <a:t>Le GEO n'est pas une discipline magique : c'est du SEO qui assume que le lecteur est parfois une machine. Structurer, chiffrer, dater, ouvrir ses crawlers — Seasonly a le produit et la légitimité ; il ne lui manquait que la couche citable. Elle existe désormais. Merci 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DB29A"/>
                </a:solidFill>
                <a:latin typeface="Calibri"/>
              </a:rPr>
              <a:t>seasonly. × GEO — pitch deck   ·   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